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5354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8102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5402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0189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291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526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629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696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9758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574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538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6E01E34-7501-481B-B0D2-BC63B1FA111F}" type="datetimeFigureOut">
              <a:rPr lang="es-AR" smtClean="0"/>
              <a:t>31/3/2026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8C87459-5A4E-4029-8BEA-142551E343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893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E1F0835-BBA7-1F05-2558-4A5F7A7DD37A}"/>
              </a:ext>
            </a:extLst>
          </p:cNvPr>
          <p:cNvSpPr txBox="1"/>
          <p:nvPr/>
        </p:nvSpPr>
        <p:spPr>
          <a:xfrm>
            <a:off x="1453543" y="0"/>
            <a:ext cx="9284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000" dirty="0">
                <a:latin typeface="Century Schoolbook" panose="02040604050505020304" pitchFamily="18" charset="0"/>
              </a:rPr>
              <a:t>Repositorio, CI e incremento funcional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785EEC0-736E-ABE9-DC4B-5174E71CF544}"/>
              </a:ext>
            </a:extLst>
          </p:cNvPr>
          <p:cNvSpPr txBox="1"/>
          <p:nvPr/>
        </p:nvSpPr>
        <p:spPr>
          <a:xfrm>
            <a:off x="2558012" y="707886"/>
            <a:ext cx="707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Laboratorio de Construcción de Software / Proyecto Profesional I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5741A7-33A0-968C-9989-9B5722ED239B}"/>
              </a:ext>
            </a:extLst>
          </p:cNvPr>
          <p:cNvSpPr txBox="1"/>
          <p:nvPr/>
        </p:nvSpPr>
        <p:spPr>
          <a:xfrm>
            <a:off x="605901" y="164231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u="sng" dirty="0"/>
              <a:t>INTEGRANTES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1010F8-F8B3-EBA0-9971-B7F73BC524CA}"/>
              </a:ext>
            </a:extLst>
          </p:cNvPr>
          <p:cNvSpPr txBox="1"/>
          <p:nvPr/>
        </p:nvSpPr>
        <p:spPr>
          <a:xfrm>
            <a:off x="2558011" y="1642317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GRUPO 5</a:t>
            </a:r>
            <a:endParaRPr lang="es-AR" b="1" u="sng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A2B14C-188A-0106-7894-BBBB39CD5E7A}"/>
              </a:ext>
            </a:extLst>
          </p:cNvPr>
          <p:cNvSpPr txBox="1"/>
          <p:nvPr/>
        </p:nvSpPr>
        <p:spPr>
          <a:xfrm>
            <a:off x="605901" y="2007236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Martinez Bogado Gonzalo</a:t>
            </a:r>
          </a:p>
          <a:p>
            <a:r>
              <a:rPr lang="es-ES" dirty="0"/>
              <a:t>Santiago Tomas Taher</a:t>
            </a:r>
          </a:p>
          <a:p>
            <a:r>
              <a:rPr lang="es-ES" dirty="0"/>
              <a:t>Nahuel Agustín Orlandau</a:t>
            </a: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4C3971-CDCD-D305-43F0-1837F9BFB1E0}"/>
              </a:ext>
            </a:extLst>
          </p:cNvPr>
          <p:cNvSpPr txBox="1"/>
          <p:nvPr/>
        </p:nvSpPr>
        <p:spPr>
          <a:xfrm>
            <a:off x="605901" y="6488668"/>
            <a:ext cx="2350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Fecha </a:t>
            </a:r>
            <a:r>
              <a:rPr lang="es-AR" dirty="0"/>
              <a:t>— 31/03/2026</a:t>
            </a:r>
          </a:p>
        </p:txBody>
      </p:sp>
      <p:pic>
        <p:nvPicPr>
          <p:cNvPr id="1028" name="Picture 4" descr="Repositorio - Iconos gratis de archivos y carpetas">
            <a:extLst>
              <a:ext uri="{FF2B5EF4-FFF2-40B4-BE49-F238E27FC236}">
                <a16:creationId xmlns:a16="http://schemas.microsoft.com/office/drawing/2014/main" id="{753CEA6F-E13C-EB4B-22A5-CFE5D060D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827" y="1415772"/>
            <a:ext cx="4876800" cy="4876800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220894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F453-0BF7-009C-0E39-B1C78AAA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A0A808-EE9F-5A5E-C107-A13BD2790DE8}"/>
              </a:ext>
            </a:extLst>
          </p:cNvPr>
          <p:cNvSpPr txBox="1"/>
          <p:nvPr/>
        </p:nvSpPr>
        <p:spPr>
          <a:xfrm>
            <a:off x="5272697" y="62144"/>
            <a:ext cx="16466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Índice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E972A6-C9E0-5380-48A6-94485D6E1A01}"/>
              </a:ext>
            </a:extLst>
          </p:cNvPr>
          <p:cNvSpPr txBox="1"/>
          <p:nvPr/>
        </p:nvSpPr>
        <p:spPr>
          <a:xfrm>
            <a:off x="933207" y="1056442"/>
            <a:ext cx="508344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sz="3200" dirty="0"/>
              <a:t>Repositorio Front-</a:t>
            </a:r>
            <a:r>
              <a:rPr lang="es-ES" sz="3200" dirty="0" err="1"/>
              <a:t>end</a:t>
            </a:r>
            <a:endParaRPr lang="es-ES" sz="3200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Repositorio Back-</a:t>
            </a:r>
            <a:r>
              <a:rPr lang="es-ES" sz="3200" dirty="0" err="1"/>
              <a:t>end</a:t>
            </a:r>
            <a:endParaRPr lang="es-ES" sz="3200" dirty="0"/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MockAPI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Matriz de Trazabilidad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Pipeline de CI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Machine Learning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Próximos pasos</a:t>
            </a:r>
          </a:p>
        </p:txBody>
      </p:sp>
    </p:spTree>
    <p:extLst>
      <p:ext uri="{BB962C8B-B14F-4D97-AF65-F5344CB8AC3E}">
        <p14:creationId xmlns:p14="http://schemas.microsoft.com/office/powerpoint/2010/main" val="206805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95A02-F417-FD93-1B79-3CD89804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07B93DA9-B1E1-191B-A1FE-D054673BCF3B}"/>
              </a:ext>
            </a:extLst>
          </p:cNvPr>
          <p:cNvSpPr/>
          <p:nvPr/>
        </p:nvSpPr>
        <p:spPr>
          <a:xfrm>
            <a:off x="6533964" y="4504958"/>
            <a:ext cx="2439140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8C4E4552-7E9E-62AA-866D-CBED026744A3}"/>
              </a:ext>
            </a:extLst>
          </p:cNvPr>
          <p:cNvSpPr/>
          <p:nvPr/>
        </p:nvSpPr>
        <p:spPr>
          <a:xfrm>
            <a:off x="3504441" y="4504958"/>
            <a:ext cx="2691762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B1C92519-5121-5F03-E490-0A83887896C9}"/>
              </a:ext>
            </a:extLst>
          </p:cNvPr>
          <p:cNvSpPr/>
          <p:nvPr/>
        </p:nvSpPr>
        <p:spPr>
          <a:xfrm>
            <a:off x="9312222" y="2805424"/>
            <a:ext cx="2439140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47DFB1D-EA8F-B2E6-1DA4-E22D310E7425}"/>
              </a:ext>
            </a:extLst>
          </p:cNvPr>
          <p:cNvSpPr/>
          <p:nvPr/>
        </p:nvSpPr>
        <p:spPr>
          <a:xfrm>
            <a:off x="6534305" y="2794773"/>
            <a:ext cx="2439140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F29064A3-9673-D926-42F0-A5C2BE6AF620}"/>
              </a:ext>
            </a:extLst>
          </p:cNvPr>
          <p:cNvSpPr/>
          <p:nvPr/>
        </p:nvSpPr>
        <p:spPr>
          <a:xfrm>
            <a:off x="3754618" y="2807354"/>
            <a:ext cx="2439140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833083E-5185-87C4-CAA1-952777BD9F39}"/>
              </a:ext>
            </a:extLst>
          </p:cNvPr>
          <p:cNvSpPr/>
          <p:nvPr/>
        </p:nvSpPr>
        <p:spPr>
          <a:xfrm>
            <a:off x="984165" y="2794208"/>
            <a:ext cx="2439140" cy="106936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6EFB30D-54C5-90F1-DB20-9A7E4CA16EAF}"/>
              </a:ext>
            </a:extLst>
          </p:cNvPr>
          <p:cNvSpPr/>
          <p:nvPr/>
        </p:nvSpPr>
        <p:spPr>
          <a:xfrm>
            <a:off x="4035392" y="707886"/>
            <a:ext cx="3839101" cy="109274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7F7BCDA-DC36-7D8B-C2C1-E975D6422822}"/>
              </a:ext>
            </a:extLst>
          </p:cNvPr>
          <p:cNvSpPr txBox="1"/>
          <p:nvPr/>
        </p:nvSpPr>
        <p:spPr>
          <a:xfrm>
            <a:off x="3401029" y="-43223"/>
            <a:ext cx="5381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Repositorio Front-</a:t>
            </a:r>
            <a:r>
              <a:rPr lang="es-ES" sz="4000" dirty="0" err="1"/>
              <a:t>end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1B37DB-594A-F5F7-1036-23DF4A669DCD}"/>
              </a:ext>
            </a:extLst>
          </p:cNvPr>
          <p:cNvSpPr txBox="1"/>
          <p:nvPr/>
        </p:nvSpPr>
        <p:spPr>
          <a:xfrm>
            <a:off x="4035392" y="989696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Almacenamiento en</a:t>
            </a:r>
            <a:r>
              <a:rPr lang="es-AR" b="1" u="sng" dirty="0"/>
              <a:t>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3254A8-1198-C749-0E05-CFAB6C4E5A2D}"/>
              </a:ext>
            </a:extLst>
          </p:cNvPr>
          <p:cNvSpPr txBox="1"/>
          <p:nvPr/>
        </p:nvSpPr>
        <p:spPr>
          <a:xfrm>
            <a:off x="1162974" y="2139518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Contenido</a:t>
            </a:r>
            <a:r>
              <a:rPr lang="es-AR" b="1" u="sng" dirty="0"/>
              <a:t>:</a:t>
            </a:r>
          </a:p>
        </p:txBody>
      </p:sp>
      <p:pic>
        <p:nvPicPr>
          <p:cNvPr id="17410" name="Picture 2" descr="Github logo - Icono gratis PNG, SVG">
            <a:extLst>
              <a:ext uri="{FF2B5EF4-FFF2-40B4-BE49-F238E27FC236}">
                <a16:creationId xmlns:a16="http://schemas.microsoft.com/office/drawing/2014/main" id="{26BA33EC-A732-D9B3-5698-386A8D261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13" y="775235"/>
            <a:ext cx="958049" cy="95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13272CE-4E6B-CEA5-F2D8-E6CE3D1CBD6F}"/>
              </a:ext>
            </a:extLst>
          </p:cNvPr>
          <p:cNvSpPr txBox="1"/>
          <p:nvPr/>
        </p:nvSpPr>
        <p:spPr>
          <a:xfrm>
            <a:off x="984165" y="2794209"/>
            <a:ext cx="2439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i="0" dirty="0">
                <a:effectLst/>
                <a:latin typeface="+mj-lt"/>
              </a:rPr>
              <a:t>.github/workflows</a:t>
            </a:r>
            <a:endParaRPr lang="es-AR" dirty="0"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48AD84-8D0B-6E12-D6EE-39861DB6A6B9}"/>
              </a:ext>
            </a:extLst>
          </p:cNvPr>
          <p:cNvSpPr txBox="1"/>
          <p:nvPr/>
        </p:nvSpPr>
        <p:spPr>
          <a:xfrm>
            <a:off x="4563841" y="2807354"/>
            <a:ext cx="820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i="0" dirty="0">
                <a:effectLst/>
                <a:latin typeface="+mj-lt"/>
              </a:rPr>
              <a:t>docs:</a:t>
            </a:r>
            <a:endParaRPr lang="es-AR" dirty="0"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AB2DD91-0D31-B9EB-223D-CB37CBA293FE}"/>
              </a:ext>
            </a:extLst>
          </p:cNvPr>
          <p:cNvSpPr txBox="1"/>
          <p:nvPr/>
        </p:nvSpPr>
        <p:spPr>
          <a:xfrm>
            <a:off x="7375218" y="2794209"/>
            <a:ext cx="757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i="0" dirty="0">
                <a:effectLst/>
              </a:rPr>
              <a:t>src:</a:t>
            </a:r>
            <a:endParaRPr lang="es-AR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932D78-450E-13DF-0B3D-79814022C5E3}"/>
              </a:ext>
            </a:extLst>
          </p:cNvPr>
          <p:cNvSpPr txBox="1"/>
          <p:nvPr/>
        </p:nvSpPr>
        <p:spPr>
          <a:xfrm>
            <a:off x="10186672" y="2805425"/>
            <a:ext cx="690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1800" b="1" i="0" dirty="0">
                <a:effectLst/>
              </a:rPr>
              <a:t>test</a:t>
            </a:r>
            <a:r>
              <a:rPr lang="es-AR" sz="1800" b="1" i="0" strike="noStrike" dirty="0">
                <a:effectLst/>
              </a:rPr>
              <a:t>:</a:t>
            </a:r>
            <a:endParaRPr lang="es-AR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D4AD5F0-3585-DCA5-3C9C-B645CA8C5C36}"/>
              </a:ext>
            </a:extLst>
          </p:cNvPr>
          <p:cNvSpPr txBox="1"/>
          <p:nvPr/>
        </p:nvSpPr>
        <p:spPr>
          <a:xfrm>
            <a:off x="3504441" y="4555304"/>
            <a:ext cx="282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i="0" dirty="0">
                <a:effectLst/>
                <a:latin typeface="+mj-lt"/>
              </a:rPr>
              <a:t>CONTRIBUTING.md:</a:t>
            </a:r>
            <a:endParaRPr lang="es-AR" dirty="0">
              <a:latin typeface="+mj-lt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4BF093-D2EF-A3DF-7429-6BD3F08B2ABF}"/>
              </a:ext>
            </a:extLst>
          </p:cNvPr>
          <p:cNvSpPr txBox="1"/>
          <p:nvPr/>
        </p:nvSpPr>
        <p:spPr>
          <a:xfrm>
            <a:off x="6829269" y="4562189"/>
            <a:ext cx="1848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i="0" dirty="0">
                <a:effectLst/>
                <a:latin typeface="+mj-lt"/>
              </a:rPr>
              <a:t>README.md</a:t>
            </a:r>
            <a:r>
              <a:rPr lang="es-AR" sz="1800" b="0" i="0" strike="noStrike" dirty="0">
                <a:effectLst/>
                <a:latin typeface="+mj-lt"/>
              </a:rPr>
              <a:t>:</a:t>
            </a:r>
            <a:endParaRPr lang="es-AR" dirty="0">
              <a:latin typeface="+mj-lt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5D422E4-8C0E-9DD2-3EDD-595BF21AA6A4}"/>
              </a:ext>
            </a:extLst>
          </p:cNvPr>
          <p:cNvSpPr txBox="1"/>
          <p:nvPr/>
        </p:nvSpPr>
        <p:spPr>
          <a:xfrm>
            <a:off x="967468" y="3163541"/>
            <a:ext cx="2433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Configura y ejecuta Pipeline</a:t>
            </a:r>
            <a:endParaRPr lang="es-AR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CB0C9F3-49C8-0F58-1225-2CC4A330FCF2}"/>
              </a:ext>
            </a:extLst>
          </p:cNvPr>
          <p:cNvSpPr txBox="1"/>
          <p:nvPr/>
        </p:nvSpPr>
        <p:spPr>
          <a:xfrm>
            <a:off x="3736285" y="3064294"/>
            <a:ext cx="2439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Documentación del proyecto</a:t>
            </a:r>
            <a:endParaRPr lang="es-AR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163D008-BDFA-C122-05C4-D3117A45D81A}"/>
              </a:ext>
            </a:extLst>
          </p:cNvPr>
          <p:cNvSpPr txBox="1"/>
          <p:nvPr/>
        </p:nvSpPr>
        <p:spPr>
          <a:xfrm>
            <a:off x="6534306" y="3072360"/>
            <a:ext cx="2439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Código estable del sistema</a:t>
            </a:r>
            <a:endParaRPr lang="es-AR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90FD9B5-B167-7330-927E-9004CCE11F17}"/>
              </a:ext>
            </a:extLst>
          </p:cNvPr>
          <p:cNvSpPr txBox="1"/>
          <p:nvPr/>
        </p:nvSpPr>
        <p:spPr>
          <a:xfrm>
            <a:off x="9363843" y="3163541"/>
            <a:ext cx="2335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Pruebas del sistema</a:t>
            </a:r>
            <a:endParaRPr lang="es-AR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78326C8-B361-F15F-76CD-12DFA0029288}"/>
              </a:ext>
            </a:extLst>
          </p:cNvPr>
          <p:cNvSpPr txBox="1"/>
          <p:nvPr/>
        </p:nvSpPr>
        <p:spPr>
          <a:xfrm>
            <a:off x="3653520" y="4931521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Guía para contribuir</a:t>
            </a:r>
            <a:endParaRPr lang="es-AR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AA52D9B-F091-B647-8912-D79C43DDA7FD}"/>
              </a:ext>
            </a:extLst>
          </p:cNvPr>
          <p:cNvSpPr txBox="1"/>
          <p:nvPr/>
        </p:nvSpPr>
        <p:spPr>
          <a:xfrm>
            <a:off x="6479420" y="4858275"/>
            <a:ext cx="249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Presentación del proyecto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9254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974F-6177-A603-BE9E-CFEE26D0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6F72123-447F-A4D4-DCA3-1AC4B6F73719}"/>
              </a:ext>
            </a:extLst>
          </p:cNvPr>
          <p:cNvSpPr/>
          <p:nvPr/>
        </p:nvSpPr>
        <p:spPr>
          <a:xfrm>
            <a:off x="2926181" y="2650615"/>
            <a:ext cx="6075776" cy="109274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CDB1641-7F22-526F-1496-DE24C514B565}"/>
              </a:ext>
            </a:extLst>
          </p:cNvPr>
          <p:cNvSpPr/>
          <p:nvPr/>
        </p:nvSpPr>
        <p:spPr>
          <a:xfrm>
            <a:off x="2308009" y="4090841"/>
            <a:ext cx="7362913" cy="81754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D6452A-3779-9BED-2463-E9F0CF5606C7}"/>
              </a:ext>
            </a:extLst>
          </p:cNvPr>
          <p:cNvSpPr txBox="1"/>
          <p:nvPr/>
        </p:nvSpPr>
        <p:spPr>
          <a:xfrm>
            <a:off x="3480540" y="0"/>
            <a:ext cx="52309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Repositorio Back-</a:t>
            </a:r>
            <a:r>
              <a:rPr lang="es-ES" sz="4000" dirty="0" err="1"/>
              <a:t>end</a:t>
            </a:r>
            <a:endParaRPr lang="es-AR" sz="4000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CF70305-DF1A-7312-6F45-C2757514FDE6}"/>
              </a:ext>
            </a:extLst>
          </p:cNvPr>
          <p:cNvSpPr/>
          <p:nvPr/>
        </p:nvSpPr>
        <p:spPr>
          <a:xfrm>
            <a:off x="4035392" y="707886"/>
            <a:ext cx="3839101" cy="109274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A4F5BA-0C67-A89C-BC99-77530F424701}"/>
              </a:ext>
            </a:extLst>
          </p:cNvPr>
          <p:cNvSpPr txBox="1"/>
          <p:nvPr/>
        </p:nvSpPr>
        <p:spPr>
          <a:xfrm>
            <a:off x="4035392" y="989696"/>
            <a:ext cx="269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Almacenamiento en</a:t>
            </a:r>
            <a:r>
              <a:rPr lang="es-AR" b="1" u="sng" dirty="0"/>
              <a:t>:</a:t>
            </a:r>
          </a:p>
        </p:txBody>
      </p:sp>
      <p:pic>
        <p:nvPicPr>
          <p:cNvPr id="5" name="Picture 2" descr="Github logo - Icono gratis PNG, SVG">
            <a:extLst>
              <a:ext uri="{FF2B5EF4-FFF2-40B4-BE49-F238E27FC236}">
                <a16:creationId xmlns:a16="http://schemas.microsoft.com/office/drawing/2014/main" id="{7C3A45D7-9FA9-23D3-C759-39AEC1277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213" y="775235"/>
            <a:ext cx="958049" cy="95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C75244D-1DEC-3AB5-A4BF-9728BE5A70AC}"/>
              </a:ext>
            </a:extLst>
          </p:cNvPr>
          <p:cNvSpPr txBox="1"/>
          <p:nvPr/>
        </p:nvSpPr>
        <p:spPr>
          <a:xfrm>
            <a:off x="2256713" y="4183178"/>
            <a:ext cx="7465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Objetivo</a:t>
            </a:r>
          </a:p>
          <a:p>
            <a:pPr algn="ctr"/>
            <a:r>
              <a:rPr lang="es-ES" dirty="0"/>
              <a:t>Facilitar la mantenibilidad, escalabilidad y comprensión del sistema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A0CDF7-3662-E993-61BC-679BF8EAF9BB}"/>
              </a:ext>
            </a:extLst>
          </p:cNvPr>
          <p:cNvSpPr txBox="1"/>
          <p:nvPr/>
        </p:nvSpPr>
        <p:spPr>
          <a:xfrm>
            <a:off x="2922752" y="2998093"/>
            <a:ext cx="46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/>
              <a:t>Desarrollado con</a:t>
            </a:r>
            <a:r>
              <a:rPr lang="es-AR" b="1" u="sng" dirty="0"/>
              <a:t>: </a:t>
            </a:r>
            <a:r>
              <a:rPr lang="es-AR" dirty="0"/>
              <a:t>Java con Spring Boot</a:t>
            </a:r>
          </a:p>
        </p:txBody>
      </p:sp>
      <p:pic>
        <p:nvPicPr>
          <p:cNvPr id="1026" name="Picture 2" descr="Java - Iconos gratis de logo">
            <a:extLst>
              <a:ext uri="{FF2B5EF4-FFF2-40B4-BE49-F238E27FC236}">
                <a16:creationId xmlns:a16="http://schemas.microsoft.com/office/drawing/2014/main" id="{E9B517F9-B72B-417D-9B2C-FF0674880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479" y="2831935"/>
            <a:ext cx="701647" cy="70164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028" name="Picture 4" descr="Spring Boot Logo and Icon Resources for Developers">
            <a:extLst>
              <a:ext uri="{FF2B5EF4-FFF2-40B4-BE49-F238E27FC236}">
                <a16:creationId xmlns:a16="http://schemas.microsoft.com/office/drawing/2014/main" id="{19EABD17-68FB-3035-9D49-4626876D9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438" y="2831936"/>
            <a:ext cx="701646" cy="70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05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F4A4-C31C-9878-E1C5-2A0AA952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0DF8EEC-A854-8E1B-A27F-421C36101C64}"/>
              </a:ext>
            </a:extLst>
          </p:cNvPr>
          <p:cNvSpPr/>
          <p:nvPr/>
        </p:nvSpPr>
        <p:spPr>
          <a:xfrm>
            <a:off x="4796974" y="4143543"/>
            <a:ext cx="2749045" cy="220480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F332217-DE53-1583-D13F-B042BE9C54AF}"/>
              </a:ext>
            </a:extLst>
          </p:cNvPr>
          <p:cNvSpPr/>
          <p:nvPr/>
        </p:nvSpPr>
        <p:spPr>
          <a:xfrm>
            <a:off x="4110362" y="1107380"/>
            <a:ext cx="4172504" cy="2550219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2AF164-E5E3-5FBA-E4ED-3E1D0AF4F476}"/>
              </a:ext>
            </a:extLst>
          </p:cNvPr>
          <p:cNvSpPr txBox="1"/>
          <p:nvPr/>
        </p:nvSpPr>
        <p:spPr>
          <a:xfrm>
            <a:off x="3480540" y="0"/>
            <a:ext cx="52309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Repositorio Back-</a:t>
            </a:r>
            <a:r>
              <a:rPr lang="es-ES" sz="4000" dirty="0" err="1"/>
              <a:t>end</a:t>
            </a:r>
            <a:endParaRPr lang="es-AR" sz="4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2139E6-E775-BBFB-562B-7314695782B6}"/>
              </a:ext>
            </a:extLst>
          </p:cNvPr>
          <p:cNvSpPr txBox="1"/>
          <p:nvPr/>
        </p:nvSpPr>
        <p:spPr>
          <a:xfrm>
            <a:off x="4190260" y="1191935"/>
            <a:ext cx="40126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Estructura estándar de Spring Boot</a:t>
            </a:r>
          </a:p>
          <a:p>
            <a:endParaRPr lang="es-ES" dirty="0"/>
          </a:p>
          <a:p>
            <a:r>
              <a:rPr lang="es-AR" b="1" dirty="0"/>
              <a:t>src/main/java/com/logitrack</a:t>
            </a:r>
            <a:endParaRPr lang="es-AR" dirty="0"/>
          </a:p>
          <a:p>
            <a:r>
              <a:rPr lang="es-AR" b="1" dirty="0"/>
              <a:t>│</a:t>
            </a:r>
            <a:endParaRPr lang="es-AR" dirty="0"/>
          </a:p>
          <a:p>
            <a:r>
              <a:rPr lang="es-AR" b="1" dirty="0"/>
              <a:t>├── controller</a:t>
            </a:r>
            <a:endParaRPr lang="es-AR" dirty="0"/>
          </a:p>
          <a:p>
            <a:r>
              <a:rPr lang="es-AR" b="1" dirty="0"/>
              <a:t>├── service</a:t>
            </a:r>
            <a:endParaRPr lang="es-AR" dirty="0"/>
          </a:p>
          <a:p>
            <a:r>
              <a:rPr lang="es-AR" b="1" dirty="0"/>
              <a:t>├── model</a:t>
            </a:r>
            <a:endParaRPr lang="es-AR" dirty="0"/>
          </a:p>
          <a:p>
            <a:r>
              <a:rPr lang="es-AR" b="1" dirty="0"/>
              <a:t>└── LogitrackApplication.java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CD1BDA-889F-6144-DAA1-60527096DDD2}"/>
              </a:ext>
            </a:extLst>
          </p:cNvPr>
          <p:cNvSpPr txBox="1"/>
          <p:nvPr/>
        </p:nvSpPr>
        <p:spPr>
          <a:xfrm>
            <a:off x="4909351" y="4253220"/>
            <a:ext cx="25506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Tecnologías utilizadas</a:t>
            </a:r>
          </a:p>
          <a:p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Java 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Spring Boot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Swagger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Railway/Render</a:t>
            </a:r>
          </a:p>
        </p:txBody>
      </p:sp>
    </p:spTree>
    <p:extLst>
      <p:ext uri="{BB962C8B-B14F-4D97-AF65-F5344CB8AC3E}">
        <p14:creationId xmlns:p14="http://schemas.microsoft.com/office/powerpoint/2010/main" val="383596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6AE83-BABE-6B60-15C8-92862FDB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4392612-3761-944E-863B-8FA4B42531BC}"/>
              </a:ext>
            </a:extLst>
          </p:cNvPr>
          <p:cNvSpPr/>
          <p:nvPr/>
        </p:nvSpPr>
        <p:spPr>
          <a:xfrm>
            <a:off x="3659056" y="5033985"/>
            <a:ext cx="5062604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DA9961D-A7EF-A61D-D2E8-8B13C282DB57}"/>
              </a:ext>
            </a:extLst>
          </p:cNvPr>
          <p:cNvSpPr/>
          <p:nvPr/>
        </p:nvSpPr>
        <p:spPr>
          <a:xfrm>
            <a:off x="2894119" y="4123253"/>
            <a:ext cx="6403761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DC98A6E-FCCB-F024-16F1-46D62122AA8B}"/>
              </a:ext>
            </a:extLst>
          </p:cNvPr>
          <p:cNvSpPr/>
          <p:nvPr/>
        </p:nvSpPr>
        <p:spPr>
          <a:xfrm>
            <a:off x="6392897" y="2342861"/>
            <a:ext cx="5175682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EFDFBD8-5F29-3E34-6B82-F1D3B0DBCA45}"/>
              </a:ext>
            </a:extLst>
          </p:cNvPr>
          <p:cNvSpPr/>
          <p:nvPr/>
        </p:nvSpPr>
        <p:spPr>
          <a:xfrm>
            <a:off x="1941729" y="2342861"/>
            <a:ext cx="3850734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5E7B94A-CA4F-D335-A223-2B783BEC5802}"/>
              </a:ext>
            </a:extLst>
          </p:cNvPr>
          <p:cNvSpPr/>
          <p:nvPr/>
        </p:nvSpPr>
        <p:spPr>
          <a:xfrm>
            <a:off x="6392897" y="1326865"/>
            <a:ext cx="4570481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18F453C-3492-BA96-3533-8D50AF7AC907}"/>
              </a:ext>
            </a:extLst>
          </p:cNvPr>
          <p:cNvSpPr/>
          <p:nvPr/>
        </p:nvSpPr>
        <p:spPr>
          <a:xfrm>
            <a:off x="1531181" y="1326865"/>
            <a:ext cx="4261282" cy="4971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0A39DA-C0D9-9316-F620-AB313083F664}"/>
              </a:ext>
            </a:extLst>
          </p:cNvPr>
          <p:cNvSpPr txBox="1"/>
          <p:nvPr/>
        </p:nvSpPr>
        <p:spPr>
          <a:xfrm>
            <a:off x="4835879" y="0"/>
            <a:ext cx="25202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Mock API</a:t>
            </a:r>
            <a:endParaRPr lang="es-AR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E67A28-6CB7-0A65-0B70-15D5D29C2A5A}"/>
              </a:ext>
            </a:extLst>
          </p:cNvPr>
          <p:cNvSpPr txBox="1"/>
          <p:nvPr/>
        </p:nvSpPr>
        <p:spPr>
          <a:xfrm>
            <a:off x="1571346" y="1390774"/>
            <a:ext cx="418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Simular operaciones CRUD de envíos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8AE573-B4C5-1EB2-09D8-09CAF7AB502D}"/>
              </a:ext>
            </a:extLst>
          </p:cNvPr>
          <p:cNvSpPr txBox="1"/>
          <p:nvPr/>
        </p:nvSpPr>
        <p:spPr>
          <a:xfrm>
            <a:off x="6440790" y="1395775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Permitir pruebas funcionales del sistema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737704-0EA0-7402-19DC-B79D5D894E2F}"/>
              </a:ext>
            </a:extLst>
          </p:cNvPr>
          <p:cNvSpPr txBox="1"/>
          <p:nvPr/>
        </p:nvSpPr>
        <p:spPr>
          <a:xfrm>
            <a:off x="1941729" y="2406770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Facilitar la demostración del MVP</a:t>
            </a: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4F8B7F-102F-BF23-D3C8-CB5B776D34E9}"/>
              </a:ext>
            </a:extLst>
          </p:cNvPr>
          <p:cNvSpPr txBox="1"/>
          <p:nvPr/>
        </p:nvSpPr>
        <p:spPr>
          <a:xfrm>
            <a:off x="6392897" y="2406770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Desacoplar el desarrollo del frontend y backend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490AF6-61E8-CA72-6C15-515C2572A919}"/>
              </a:ext>
            </a:extLst>
          </p:cNvPr>
          <p:cNvSpPr txBox="1"/>
          <p:nvPr/>
        </p:nvSpPr>
        <p:spPr>
          <a:xfrm>
            <a:off x="5503530" y="66844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Objetivos</a:t>
            </a:r>
            <a:endParaRPr lang="es-AR" u="sng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3E8F9B9-491C-14CC-C6C8-1E09AEF36EB1}"/>
              </a:ext>
            </a:extLst>
          </p:cNvPr>
          <p:cNvSpPr txBox="1"/>
          <p:nvPr/>
        </p:nvSpPr>
        <p:spPr>
          <a:xfrm>
            <a:off x="5136442" y="3524435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Funcionamiento</a:t>
            </a:r>
            <a:endParaRPr lang="es-AR" u="sng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FF1202-45F6-458E-14FF-87EC42C0AEE2}"/>
              </a:ext>
            </a:extLst>
          </p:cNvPr>
          <p:cNvSpPr txBox="1"/>
          <p:nvPr/>
        </p:nvSpPr>
        <p:spPr>
          <a:xfrm>
            <a:off x="2894120" y="4199569"/>
            <a:ext cx="649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Utiliza una lista de objetos como almacenamiento temporal</a:t>
            </a:r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4E57F70-5595-CE3C-806C-5F8794E2D13B}"/>
              </a:ext>
            </a:extLst>
          </p:cNvPr>
          <p:cNvSpPr txBox="1"/>
          <p:nvPr/>
        </p:nvSpPr>
        <p:spPr>
          <a:xfrm>
            <a:off x="3701988" y="5097894"/>
            <a:ext cx="506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Mecanismo semilla para inicializar el sistema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9877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82D73FE-B14E-F868-1CBB-F0D19B4AEED9}"/>
              </a:ext>
            </a:extLst>
          </p:cNvPr>
          <p:cNvSpPr/>
          <p:nvPr/>
        </p:nvSpPr>
        <p:spPr>
          <a:xfrm>
            <a:off x="5051676" y="4304229"/>
            <a:ext cx="2121788" cy="2057813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C3C182-038C-03C0-A7FC-0D92C20EA653}"/>
              </a:ext>
            </a:extLst>
          </p:cNvPr>
          <p:cNvSpPr/>
          <p:nvPr/>
        </p:nvSpPr>
        <p:spPr>
          <a:xfrm>
            <a:off x="2792281" y="1393081"/>
            <a:ext cx="6713970" cy="183655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1DAA40-A79A-BB9E-65ED-4997AA9723C9}"/>
              </a:ext>
            </a:extLst>
          </p:cNvPr>
          <p:cNvSpPr txBox="1"/>
          <p:nvPr/>
        </p:nvSpPr>
        <p:spPr>
          <a:xfrm>
            <a:off x="4835879" y="0"/>
            <a:ext cx="25202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Mock API</a:t>
            </a:r>
            <a:endParaRPr lang="es-AR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0F45D5-FE9C-76FC-5254-A9012E8B2B58}"/>
              </a:ext>
            </a:extLst>
          </p:cNvPr>
          <p:cNvSpPr txBox="1"/>
          <p:nvPr/>
        </p:nvSpPr>
        <p:spPr>
          <a:xfrm>
            <a:off x="2889935" y="1393081"/>
            <a:ext cx="6532558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Crear envío</a:t>
            </a:r>
            <a:r>
              <a:rPr lang="es-AR" dirty="0"/>
              <a:t> – POST/envíos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Listar envíos </a:t>
            </a:r>
            <a:r>
              <a:rPr lang="es-AR" dirty="0"/>
              <a:t>– GET/envíos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Obtener envío por ID </a:t>
            </a:r>
            <a:r>
              <a:rPr lang="es-AR" dirty="0"/>
              <a:t>– GET/envíos/{trackingId}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b="1" dirty="0"/>
              <a:t>Actualizar listado </a:t>
            </a:r>
            <a:r>
              <a:rPr lang="es-AR" dirty="0"/>
              <a:t>– PATCH/envíos/{trackingId}/estado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E981C4-6B18-B78B-5A78-DD44BF17DDA9}"/>
              </a:ext>
            </a:extLst>
          </p:cNvPr>
          <p:cNvSpPr txBox="1"/>
          <p:nvPr/>
        </p:nvSpPr>
        <p:spPr>
          <a:xfrm>
            <a:off x="5193435" y="4384128"/>
            <a:ext cx="1980029" cy="19779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Creado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 err="1"/>
              <a:t>En_Transito</a:t>
            </a:r>
            <a:endParaRPr lang="es-E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 err="1"/>
              <a:t>En_Sucursal</a:t>
            </a:r>
            <a:endParaRPr lang="es-E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 err="1"/>
              <a:t>En_Camino</a:t>
            </a:r>
            <a:endParaRPr lang="es-E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b="1" dirty="0"/>
              <a:t>Entregado</a:t>
            </a:r>
            <a:endParaRPr lang="es-AR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753FAA-5381-05F8-34BD-2FC8783BC60C}"/>
              </a:ext>
            </a:extLst>
          </p:cNvPr>
          <p:cNvSpPr txBox="1"/>
          <p:nvPr/>
        </p:nvSpPr>
        <p:spPr>
          <a:xfrm>
            <a:off x="4827865" y="810213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Endpoints principales</a:t>
            </a:r>
            <a:endParaRPr lang="es-AR" u="sng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8AEB24-C9B9-03CA-A9EF-D6A75908C910}"/>
              </a:ext>
            </a:extLst>
          </p:cNvPr>
          <p:cNvSpPr txBox="1"/>
          <p:nvPr/>
        </p:nvSpPr>
        <p:spPr>
          <a:xfrm>
            <a:off x="5088091" y="3730160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/>
              <a:t>Estados del envío</a:t>
            </a:r>
            <a:endParaRPr lang="es-AR" u="sng" dirty="0"/>
          </a:p>
        </p:txBody>
      </p:sp>
    </p:spTree>
    <p:extLst>
      <p:ext uri="{BB962C8B-B14F-4D97-AF65-F5344CB8AC3E}">
        <p14:creationId xmlns:p14="http://schemas.microsoft.com/office/powerpoint/2010/main" val="1503208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8AC17-A935-073B-D400-CEAEABB9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93A990F-5724-06B8-E3AA-BBD5571F4D64}"/>
              </a:ext>
            </a:extLst>
          </p:cNvPr>
          <p:cNvSpPr/>
          <p:nvPr/>
        </p:nvSpPr>
        <p:spPr>
          <a:xfrm>
            <a:off x="3976669" y="5336338"/>
            <a:ext cx="4309193" cy="46163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600DBB8-8142-2751-65FE-3D81FE1C1C6A}"/>
              </a:ext>
            </a:extLst>
          </p:cNvPr>
          <p:cNvSpPr/>
          <p:nvPr/>
        </p:nvSpPr>
        <p:spPr>
          <a:xfrm>
            <a:off x="7973864" y="4064209"/>
            <a:ext cx="3799051" cy="46163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74003D4-6B05-91A9-B4D8-DF57C3DA310F}"/>
              </a:ext>
            </a:extLst>
          </p:cNvPr>
          <p:cNvSpPr/>
          <p:nvPr/>
        </p:nvSpPr>
        <p:spPr>
          <a:xfrm>
            <a:off x="1526959" y="4064209"/>
            <a:ext cx="2398413" cy="46163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2A6C504-8AEE-2FEE-7B5F-4FD2E1D3CEA8}"/>
              </a:ext>
            </a:extLst>
          </p:cNvPr>
          <p:cNvSpPr/>
          <p:nvPr/>
        </p:nvSpPr>
        <p:spPr>
          <a:xfrm>
            <a:off x="3466983" y="1010288"/>
            <a:ext cx="5258033" cy="1084841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B4B8F3-E22F-6A51-A895-BD4FCAC9FD5C}"/>
              </a:ext>
            </a:extLst>
          </p:cNvPr>
          <p:cNvSpPr txBox="1"/>
          <p:nvPr/>
        </p:nvSpPr>
        <p:spPr>
          <a:xfrm>
            <a:off x="4835879" y="0"/>
            <a:ext cx="25202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Mock API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841FA1-21D0-18BD-722B-060A4D899304}"/>
              </a:ext>
            </a:extLst>
          </p:cNvPr>
          <p:cNvSpPr txBox="1"/>
          <p:nvPr/>
        </p:nvSpPr>
        <p:spPr>
          <a:xfrm>
            <a:off x="3466983" y="1327850"/>
            <a:ext cx="440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/>
              <a:t>Documentación mediante</a:t>
            </a:r>
            <a:r>
              <a:rPr lang="es-AR" b="1" u="sng" dirty="0"/>
              <a:t>: </a:t>
            </a:r>
            <a:r>
              <a:rPr lang="es-AR" dirty="0"/>
              <a:t>Swagger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2B78A5-18B6-DB74-34F5-435AB11B7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475" y="1106177"/>
            <a:ext cx="812677" cy="81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F7BDC46-BF74-580E-7A59-DA343CAEAC8F}"/>
              </a:ext>
            </a:extLst>
          </p:cNvPr>
          <p:cNvSpPr txBox="1"/>
          <p:nvPr/>
        </p:nvSpPr>
        <p:spPr>
          <a:xfrm>
            <a:off x="5201689" y="2718332"/>
            <a:ext cx="1788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u="sng" dirty="0"/>
              <a:t>Permitiendo</a:t>
            </a:r>
            <a:r>
              <a:rPr lang="es-AR" b="1" u="sng" dirty="0"/>
              <a:t>: 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B0B535-21ED-DE55-C90D-3BF4368475F3}"/>
              </a:ext>
            </a:extLst>
          </p:cNvPr>
          <p:cNvSpPr txBox="1"/>
          <p:nvPr/>
        </p:nvSpPr>
        <p:spPr>
          <a:xfrm>
            <a:off x="1526959" y="4110362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Visualizar Endpoints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AA0970-F9DB-38F4-DFAA-45BF74966075}"/>
              </a:ext>
            </a:extLst>
          </p:cNvPr>
          <p:cNvSpPr txBox="1"/>
          <p:nvPr/>
        </p:nvSpPr>
        <p:spPr>
          <a:xfrm>
            <a:off x="7973864" y="4110362"/>
            <a:ext cx="3863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Ejecutar pruebas desde navegador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F078AB5-F794-CDA3-77F4-4F2458F53C32}"/>
              </a:ext>
            </a:extLst>
          </p:cNvPr>
          <p:cNvSpPr txBox="1"/>
          <p:nvPr/>
        </p:nvSpPr>
        <p:spPr>
          <a:xfrm>
            <a:off x="3976669" y="5382491"/>
            <a:ext cx="430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Validar el comportamiento del sistema</a:t>
            </a:r>
            <a:endParaRPr lang="es-AR" dirty="0"/>
          </a:p>
        </p:txBody>
      </p: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4BB33984-EA9E-FBF2-65DF-8A24D8181232}"/>
              </a:ext>
            </a:extLst>
          </p:cNvPr>
          <p:cNvSpPr/>
          <p:nvPr/>
        </p:nvSpPr>
        <p:spPr>
          <a:xfrm rot="3288099">
            <a:off x="4696983" y="2977789"/>
            <a:ext cx="277790" cy="1421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lecha: hacia abajo 16">
            <a:extLst>
              <a:ext uri="{FF2B5EF4-FFF2-40B4-BE49-F238E27FC236}">
                <a16:creationId xmlns:a16="http://schemas.microsoft.com/office/drawing/2014/main" id="{C833F64E-E91D-02DA-3607-FE863C86A235}"/>
              </a:ext>
            </a:extLst>
          </p:cNvPr>
          <p:cNvSpPr/>
          <p:nvPr/>
        </p:nvSpPr>
        <p:spPr>
          <a:xfrm>
            <a:off x="5919053" y="3439763"/>
            <a:ext cx="277790" cy="1421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853282FD-FC5F-B6B6-CE43-4EB8EF05442C}"/>
              </a:ext>
            </a:extLst>
          </p:cNvPr>
          <p:cNvSpPr/>
          <p:nvPr/>
        </p:nvSpPr>
        <p:spPr>
          <a:xfrm rot="18107718">
            <a:off x="7157545" y="2947133"/>
            <a:ext cx="277790" cy="1421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784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6894-442A-2DAA-CD54-A3A6F4C9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8AD1C8-53B1-EE0E-DEE0-41E30E815BA0}"/>
              </a:ext>
            </a:extLst>
          </p:cNvPr>
          <p:cNvSpPr/>
          <p:nvPr/>
        </p:nvSpPr>
        <p:spPr>
          <a:xfrm>
            <a:off x="5223003" y="4354756"/>
            <a:ext cx="1532980" cy="561621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45B6E9F-971D-B762-6738-584D0F2AFCF5}"/>
              </a:ext>
            </a:extLst>
          </p:cNvPr>
          <p:cNvSpPr/>
          <p:nvPr/>
        </p:nvSpPr>
        <p:spPr>
          <a:xfrm>
            <a:off x="1743073" y="3253670"/>
            <a:ext cx="8528296" cy="751805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BBC5896-D018-F721-D239-8EA0B30F00A2}"/>
              </a:ext>
            </a:extLst>
          </p:cNvPr>
          <p:cNvSpPr/>
          <p:nvPr/>
        </p:nvSpPr>
        <p:spPr>
          <a:xfrm>
            <a:off x="2718312" y="1705205"/>
            <a:ext cx="6506908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C35FA4F-482D-0CE3-0613-30D091E7CFB0}"/>
              </a:ext>
            </a:extLst>
          </p:cNvPr>
          <p:cNvSpPr txBox="1"/>
          <p:nvPr/>
        </p:nvSpPr>
        <p:spPr>
          <a:xfrm>
            <a:off x="3336270" y="0"/>
            <a:ext cx="55194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Matriz de trazabilidad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508D79-9562-CA75-D2CD-205249666E80}"/>
              </a:ext>
            </a:extLst>
          </p:cNvPr>
          <p:cNvSpPr txBox="1"/>
          <p:nvPr/>
        </p:nvSpPr>
        <p:spPr>
          <a:xfrm>
            <a:off x="2718312" y="707886"/>
            <a:ext cx="675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Herramienta que facilita el seguimiento de una funcionalidad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B2A176-55FA-4B3C-4860-E1DE8EE466B6}"/>
              </a:ext>
            </a:extLst>
          </p:cNvPr>
          <p:cNvSpPr txBox="1"/>
          <p:nvPr/>
        </p:nvSpPr>
        <p:spPr>
          <a:xfrm>
            <a:off x="2718312" y="1705205"/>
            <a:ext cx="6506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Relaciona</a:t>
            </a:r>
          </a:p>
          <a:p>
            <a:pPr algn="ctr"/>
            <a:r>
              <a:rPr lang="es-ES" dirty="0"/>
              <a:t>Historia de Usuario </a:t>
            </a:r>
            <a:r>
              <a:rPr lang="es-ES" dirty="0">
                <a:sym typeface="Wingdings" panose="05000000000000000000" pitchFamily="2" charset="2"/>
              </a:rPr>
              <a:t> Caso de Prueba  Commit/PR 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66D8F5-EE20-D528-73A7-306F8FFA9DBA}"/>
              </a:ext>
            </a:extLst>
          </p:cNvPr>
          <p:cNvSpPr txBox="1"/>
          <p:nvPr/>
        </p:nvSpPr>
        <p:spPr>
          <a:xfrm>
            <a:off x="1743072" y="3253670"/>
            <a:ext cx="8528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Objetivo</a:t>
            </a:r>
          </a:p>
          <a:p>
            <a:r>
              <a:rPr lang="es-ES" dirty="0"/>
              <a:t>Asegurar que cada funcionalidad este correctamente implementado y validado </a:t>
            </a: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B5B5CE-7040-79F3-C20F-7996B01A91E2}"/>
              </a:ext>
            </a:extLst>
          </p:cNvPr>
          <p:cNvSpPr txBox="1"/>
          <p:nvPr/>
        </p:nvSpPr>
        <p:spPr>
          <a:xfrm>
            <a:off x="5258457" y="4430698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Estructura</a:t>
            </a:r>
            <a:endParaRPr lang="es-AR" b="1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ED2387B-EB5D-8574-60F4-B75D8BA4A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859692"/>
              </p:ext>
            </p:extLst>
          </p:nvPr>
        </p:nvGraphicFramePr>
        <p:xfrm>
          <a:off x="1743072" y="5152795"/>
          <a:ext cx="8594724" cy="674010"/>
        </p:xfrm>
        <a:graphic>
          <a:graphicData uri="http://schemas.openxmlformats.org/drawingml/2006/table">
            <a:tbl>
              <a:tblPr>
                <a:effectLst>
                  <a:outerShdw blurRad="152400" dist="317500" dir="5400000" sx="90000" sy="-19000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47086">
                  <a:extLst>
                    <a:ext uri="{9D8B030D-6E8A-4147-A177-3AD203B41FA5}">
                      <a16:colId xmlns:a16="http://schemas.microsoft.com/office/drawing/2014/main" val="3586306329"/>
                    </a:ext>
                  </a:extLst>
                </a:gridCol>
                <a:gridCol w="4765121">
                  <a:extLst>
                    <a:ext uri="{9D8B030D-6E8A-4147-A177-3AD203B41FA5}">
                      <a16:colId xmlns:a16="http://schemas.microsoft.com/office/drawing/2014/main" val="348681795"/>
                    </a:ext>
                  </a:extLst>
                </a:gridCol>
                <a:gridCol w="1816326">
                  <a:extLst>
                    <a:ext uri="{9D8B030D-6E8A-4147-A177-3AD203B41FA5}">
                      <a16:colId xmlns:a16="http://schemas.microsoft.com/office/drawing/2014/main" val="3479857494"/>
                    </a:ext>
                  </a:extLst>
                </a:gridCol>
                <a:gridCol w="618207">
                  <a:extLst>
                    <a:ext uri="{9D8B030D-6E8A-4147-A177-3AD203B41FA5}">
                      <a16:colId xmlns:a16="http://schemas.microsoft.com/office/drawing/2014/main" val="2491372415"/>
                    </a:ext>
                  </a:extLst>
                </a:gridCol>
                <a:gridCol w="847984">
                  <a:extLst>
                    <a:ext uri="{9D8B030D-6E8A-4147-A177-3AD203B41FA5}">
                      <a16:colId xmlns:a16="http://schemas.microsoft.com/office/drawing/2014/main" val="947812169"/>
                    </a:ext>
                  </a:extLst>
                </a:gridCol>
              </a:tblGrid>
              <a:tr h="3370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rgbClr val="FFFFFF"/>
                          </a:solidFill>
                          <a:effectLst/>
                        </a:rPr>
                        <a:t>Historia de Usuario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>
                          <a:solidFill>
                            <a:srgbClr val="FFFFFF"/>
                          </a:solidFill>
                          <a:effectLst/>
                        </a:rPr>
                        <a:t>Criterio de Aceptacion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rgbClr val="FFFFFF"/>
                          </a:solidFill>
                          <a:effectLst/>
                        </a:rPr>
                        <a:t>ID Test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rgbClr val="FFFFFF"/>
                          </a:solidFill>
                          <a:effectLst/>
                        </a:rPr>
                        <a:t>Commit/PR 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367969"/>
                  </a:ext>
                </a:extLst>
              </a:tr>
              <a:tr h="3370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chemeClr val="bg1"/>
                          </a:solidFill>
                          <a:effectLst/>
                        </a:rPr>
                        <a:t>HU-01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ES" sz="1000" dirty="0">
                          <a:solidFill>
                            <a:schemeClr val="bg1"/>
                          </a:solidFill>
                          <a:effectLst/>
                        </a:rPr>
                        <a:t>Como Operador, quiero registrar un nuevo envío en el sistema para generar un tracking ID y comenzar el seguimiento.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dirty="0">
                          <a:solidFill>
                            <a:schemeClr val="bg1"/>
                          </a:solidFill>
                          <a:effectLst/>
                        </a:rPr>
                        <a:t>Envío creado correctamente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chemeClr val="bg1"/>
                          </a:solidFill>
                          <a:effectLst/>
                        </a:rPr>
                        <a:t>T-01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AR" sz="1000" b="1" dirty="0">
                          <a:solidFill>
                            <a:schemeClr val="bg1"/>
                          </a:solidFill>
                          <a:effectLst/>
                        </a:rPr>
                        <a:t>PR #01</a:t>
                      </a:r>
                    </a:p>
                  </a:txBody>
                  <a:tcPr marL="16413" marR="16413" marT="10942" marB="10942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368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83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C4EA-677B-14D3-4CF3-9E391AED9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F33A61A-BA46-4727-D541-A8206188993D}"/>
              </a:ext>
            </a:extLst>
          </p:cNvPr>
          <p:cNvSpPr/>
          <p:nvPr/>
        </p:nvSpPr>
        <p:spPr>
          <a:xfrm>
            <a:off x="993889" y="5072448"/>
            <a:ext cx="1580882" cy="561621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5BE827B-926B-F163-0BE0-D259CFDE9CDE}"/>
              </a:ext>
            </a:extLst>
          </p:cNvPr>
          <p:cNvSpPr/>
          <p:nvPr/>
        </p:nvSpPr>
        <p:spPr>
          <a:xfrm>
            <a:off x="2727129" y="1047565"/>
            <a:ext cx="6737741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94EFD5E-F889-4ACC-5932-C76C96A843D8}"/>
              </a:ext>
            </a:extLst>
          </p:cNvPr>
          <p:cNvSpPr txBox="1"/>
          <p:nvPr/>
        </p:nvSpPr>
        <p:spPr>
          <a:xfrm>
            <a:off x="4313300" y="0"/>
            <a:ext cx="3565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Pipeline en CI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F0755C-8921-14E5-FDCC-162C2D1DB6B4}"/>
              </a:ext>
            </a:extLst>
          </p:cNvPr>
          <p:cNvSpPr txBox="1"/>
          <p:nvPr/>
        </p:nvSpPr>
        <p:spPr>
          <a:xfrm>
            <a:off x="2727129" y="1047565"/>
            <a:ext cx="6737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Objetivo</a:t>
            </a:r>
          </a:p>
          <a:p>
            <a:pPr algn="ctr"/>
            <a:r>
              <a:rPr lang="es-ES" dirty="0"/>
              <a:t>Evita mala implementación del código al repositorio principal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63422D-92B5-1B1D-D33C-8F3BE5DB40A9}"/>
              </a:ext>
            </a:extLst>
          </p:cNvPr>
          <p:cNvSpPr txBox="1"/>
          <p:nvPr/>
        </p:nvSpPr>
        <p:spPr>
          <a:xfrm>
            <a:off x="993889" y="5141960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Paso a paso</a:t>
            </a:r>
            <a:endParaRPr lang="es-AR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9C6B68-8672-515E-F9CC-1C52E004C6E1}"/>
              </a:ext>
            </a:extLst>
          </p:cNvPr>
          <p:cNvSpPr txBox="1"/>
          <p:nvPr/>
        </p:nvSpPr>
        <p:spPr>
          <a:xfrm>
            <a:off x="729788" y="3200412"/>
            <a:ext cx="2038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Realiza un Push/PR</a:t>
            </a:r>
            <a:endParaRPr lang="es-AR" dirty="0"/>
          </a:p>
        </p:txBody>
      </p:sp>
      <p:pic>
        <p:nvPicPr>
          <p:cNvPr id="13316" name="Picture 4" descr="Símbolo masculino: icono de usuario naranja">
            <a:extLst>
              <a:ext uri="{FF2B5EF4-FFF2-40B4-BE49-F238E27FC236}">
                <a16:creationId xmlns:a16="http://schemas.microsoft.com/office/drawing/2014/main" id="{BC716E7D-C3B3-9CC7-CCD1-389BE2433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75" y="2233856"/>
            <a:ext cx="1017402" cy="1017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CE14B5A-9AFC-84E6-10D3-1AE2C26150EB}"/>
              </a:ext>
            </a:extLst>
          </p:cNvPr>
          <p:cNvSpPr txBox="1"/>
          <p:nvPr/>
        </p:nvSpPr>
        <p:spPr>
          <a:xfrm>
            <a:off x="2833582" y="3243413"/>
            <a:ext cx="208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Activación del Pipeline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2F40DA1-A7EE-FCD1-7565-12E3B5E75ACB}"/>
              </a:ext>
            </a:extLst>
          </p:cNvPr>
          <p:cNvSpPr txBox="1"/>
          <p:nvPr/>
        </p:nvSpPr>
        <p:spPr>
          <a:xfrm>
            <a:off x="4362773" y="52456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65A6EC-0576-9D49-D1D8-4D6DC0103650}"/>
              </a:ext>
            </a:extLst>
          </p:cNvPr>
          <p:cNvSpPr txBox="1"/>
          <p:nvPr/>
        </p:nvSpPr>
        <p:spPr>
          <a:xfrm>
            <a:off x="5244130" y="3243412"/>
            <a:ext cx="1785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Checkout del código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DB09CB3-EA3A-7254-DD02-B18B13EB97BC}"/>
              </a:ext>
            </a:extLst>
          </p:cNvPr>
          <p:cNvSpPr txBox="1"/>
          <p:nvPr/>
        </p:nvSpPr>
        <p:spPr>
          <a:xfrm>
            <a:off x="7430799" y="3243411"/>
            <a:ext cx="225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Configuración del entorno</a:t>
            </a:r>
            <a:endParaRPr lang="es-AR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D00B76-CFB0-E1DD-7293-4C68C93B4207}"/>
              </a:ext>
            </a:extLst>
          </p:cNvPr>
          <p:cNvSpPr txBox="1"/>
          <p:nvPr/>
        </p:nvSpPr>
        <p:spPr>
          <a:xfrm>
            <a:off x="10050877" y="3243410"/>
            <a:ext cx="180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Análisis de código</a:t>
            </a:r>
            <a:endParaRPr lang="es-AR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CFDB6D-1D2B-8C87-7313-D56E5EB46F68}"/>
              </a:ext>
            </a:extLst>
          </p:cNvPr>
          <p:cNvSpPr txBox="1"/>
          <p:nvPr/>
        </p:nvSpPr>
        <p:spPr>
          <a:xfrm>
            <a:off x="9967644" y="5107179"/>
            <a:ext cx="1968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Ejecución de pruebas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BDA35E-5DC6-CDF9-7CC7-1D43FF6BAD6D}"/>
              </a:ext>
            </a:extLst>
          </p:cNvPr>
          <p:cNvSpPr txBox="1"/>
          <p:nvPr/>
        </p:nvSpPr>
        <p:spPr>
          <a:xfrm>
            <a:off x="7030120" y="5107178"/>
            <a:ext cx="1968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Resultado del Pipeline</a:t>
            </a:r>
            <a:endParaRPr lang="es-A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84B90D-B6DB-C802-32A1-71BDCA5A7F5F}"/>
              </a:ext>
            </a:extLst>
          </p:cNvPr>
          <p:cNvSpPr txBox="1"/>
          <p:nvPr/>
        </p:nvSpPr>
        <p:spPr>
          <a:xfrm>
            <a:off x="3697732" y="5107178"/>
            <a:ext cx="2363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Feedback del desarrollador</a:t>
            </a:r>
            <a:endParaRPr lang="es-AR" dirty="0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7654FF44-59CD-72BC-7222-E970FCA82E94}"/>
              </a:ext>
            </a:extLst>
          </p:cNvPr>
          <p:cNvSpPr/>
          <p:nvPr/>
        </p:nvSpPr>
        <p:spPr>
          <a:xfrm>
            <a:off x="2393909" y="3372471"/>
            <a:ext cx="706170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A4593BC3-367C-3497-3CE1-49762C1B46A7}"/>
              </a:ext>
            </a:extLst>
          </p:cNvPr>
          <p:cNvSpPr/>
          <p:nvPr/>
        </p:nvSpPr>
        <p:spPr>
          <a:xfrm>
            <a:off x="4682163" y="3381912"/>
            <a:ext cx="706170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34C4A523-D313-A274-E095-674B4D854502}"/>
              </a:ext>
            </a:extLst>
          </p:cNvPr>
          <p:cNvSpPr/>
          <p:nvPr/>
        </p:nvSpPr>
        <p:spPr>
          <a:xfrm>
            <a:off x="6914092" y="3410615"/>
            <a:ext cx="706170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EDE3723E-E7F9-87AA-B150-9607D4D5880A}"/>
              </a:ext>
            </a:extLst>
          </p:cNvPr>
          <p:cNvSpPr/>
          <p:nvPr/>
        </p:nvSpPr>
        <p:spPr>
          <a:xfrm>
            <a:off x="9577716" y="3414435"/>
            <a:ext cx="706170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Flecha: a la derecha 37">
            <a:extLst>
              <a:ext uri="{FF2B5EF4-FFF2-40B4-BE49-F238E27FC236}">
                <a16:creationId xmlns:a16="http://schemas.microsoft.com/office/drawing/2014/main" id="{98F9C4C8-E2FD-E3C6-16EF-D6BC1F8DCF29}"/>
              </a:ext>
            </a:extLst>
          </p:cNvPr>
          <p:cNvSpPr/>
          <p:nvPr/>
        </p:nvSpPr>
        <p:spPr>
          <a:xfrm rot="5400000">
            <a:off x="10375496" y="4346232"/>
            <a:ext cx="1152561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Flecha: a la derecha 38">
            <a:extLst>
              <a:ext uri="{FF2B5EF4-FFF2-40B4-BE49-F238E27FC236}">
                <a16:creationId xmlns:a16="http://schemas.microsoft.com/office/drawing/2014/main" id="{6361CEE2-77C5-D1EE-1C9B-2ADED86E31EB}"/>
              </a:ext>
            </a:extLst>
          </p:cNvPr>
          <p:cNvSpPr/>
          <p:nvPr/>
        </p:nvSpPr>
        <p:spPr>
          <a:xfrm rot="10800000">
            <a:off x="8874408" y="5245677"/>
            <a:ext cx="1330853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Flecha: a la derecha 39">
            <a:extLst>
              <a:ext uri="{FF2B5EF4-FFF2-40B4-BE49-F238E27FC236}">
                <a16:creationId xmlns:a16="http://schemas.microsoft.com/office/drawing/2014/main" id="{550F409E-66A6-FCBF-858F-10323D5939D4}"/>
              </a:ext>
            </a:extLst>
          </p:cNvPr>
          <p:cNvSpPr/>
          <p:nvPr/>
        </p:nvSpPr>
        <p:spPr>
          <a:xfrm rot="10800000">
            <a:off x="5774830" y="5245678"/>
            <a:ext cx="1330853" cy="369332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031C39F3-3079-08E4-6BE6-D28B4F00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533" y="2267442"/>
            <a:ext cx="1021114" cy="1021114"/>
          </a:xfrm>
          <a:prstGeom prst="rect">
            <a:avLst/>
          </a:prstGeom>
        </p:spPr>
      </p:pic>
      <p:pic>
        <p:nvPicPr>
          <p:cNvPr id="13320" name="Picture 8" descr="Carpeta de descargas - Iconos gratis de negocio">
            <a:extLst>
              <a:ext uri="{FF2B5EF4-FFF2-40B4-BE49-F238E27FC236}">
                <a16:creationId xmlns:a16="http://schemas.microsoft.com/office/drawing/2014/main" id="{27843420-2578-868C-FB26-5440EEEBD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163" y="2141154"/>
            <a:ext cx="1216843" cy="121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Engranaje - Iconos gratis de ui">
            <a:extLst>
              <a:ext uri="{FF2B5EF4-FFF2-40B4-BE49-F238E27FC236}">
                <a16:creationId xmlns:a16="http://schemas.microsoft.com/office/drawing/2014/main" id="{57D4F937-3BED-0DE6-A63B-25776BAF2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564" y="2309795"/>
            <a:ext cx="933616" cy="93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Diseño PNG Y SVG De Icono De Lupa Para Camisetas">
            <a:extLst>
              <a:ext uri="{FF2B5EF4-FFF2-40B4-BE49-F238E27FC236}">
                <a16:creationId xmlns:a16="http://schemas.microsoft.com/office/drawing/2014/main" id="{C8428FEA-01C7-1B67-1B96-1FE7904DC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682" y="2267442"/>
            <a:ext cx="931416" cy="93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6" name="Picture 14" descr="un prueba tubo con rojo líquido en eso 49580019 PNG">
            <a:extLst>
              <a:ext uri="{FF2B5EF4-FFF2-40B4-BE49-F238E27FC236}">
                <a16:creationId xmlns:a16="http://schemas.microsoft.com/office/drawing/2014/main" id="{31B5E41A-C99E-AA87-2788-857901056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94070">
            <a:off x="10446267" y="5758269"/>
            <a:ext cx="1011018" cy="101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8" name="Picture 16" descr="Correcto - Iconos gratis de ui">
            <a:extLst>
              <a:ext uri="{FF2B5EF4-FFF2-40B4-BE49-F238E27FC236}">
                <a16:creationId xmlns:a16="http://schemas.microsoft.com/office/drawing/2014/main" id="{C407678F-4260-1722-C584-E1B9CFEF1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616" y="5829142"/>
            <a:ext cx="869272" cy="86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30" name="Picture 18" descr="Ciclo - Iconos gratis de flechas">
            <a:extLst>
              <a:ext uri="{FF2B5EF4-FFF2-40B4-BE49-F238E27FC236}">
                <a16:creationId xmlns:a16="http://schemas.microsoft.com/office/drawing/2014/main" id="{97170DC6-9AC2-43D6-2859-1D36B52F4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762" y="5753509"/>
            <a:ext cx="879068" cy="87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773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1006-5DCD-48BD-8B72-FBC46457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6D376B2-5519-18BC-02FC-AF58AD8D3029}"/>
              </a:ext>
            </a:extLst>
          </p:cNvPr>
          <p:cNvSpPr/>
          <p:nvPr/>
        </p:nvSpPr>
        <p:spPr>
          <a:xfrm>
            <a:off x="1582752" y="4967594"/>
            <a:ext cx="2831224" cy="1200328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DFFA7AE-5204-B210-EAE4-74A2B2005801}"/>
              </a:ext>
            </a:extLst>
          </p:cNvPr>
          <p:cNvSpPr/>
          <p:nvPr/>
        </p:nvSpPr>
        <p:spPr>
          <a:xfrm>
            <a:off x="1549839" y="2383983"/>
            <a:ext cx="3938344" cy="2201661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B17E62E-87B9-9FEC-32BB-87185112B53C}"/>
              </a:ext>
            </a:extLst>
          </p:cNvPr>
          <p:cNvSpPr/>
          <p:nvPr/>
        </p:nvSpPr>
        <p:spPr>
          <a:xfrm>
            <a:off x="1532824" y="1164304"/>
            <a:ext cx="1822935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322778F-E56D-B26D-EA55-F6D1B7526471}"/>
              </a:ext>
            </a:extLst>
          </p:cNvPr>
          <p:cNvSpPr txBox="1"/>
          <p:nvPr/>
        </p:nvSpPr>
        <p:spPr>
          <a:xfrm>
            <a:off x="3825186" y="0"/>
            <a:ext cx="4541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Machine Learning</a:t>
            </a:r>
            <a:endParaRPr lang="es-AR" sz="4000" dirty="0"/>
          </a:p>
        </p:txBody>
      </p:sp>
      <p:sp>
        <p:nvSpPr>
          <p:cNvPr id="3" name="AutoShape 2" descr="Imagen generada: Flujo de trabajo del CI Pipeline">
            <a:extLst>
              <a:ext uri="{FF2B5EF4-FFF2-40B4-BE49-F238E27FC236}">
                <a16:creationId xmlns:a16="http://schemas.microsoft.com/office/drawing/2014/main" id="{E613AEAC-C118-23DF-D9D4-0F4280846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759" y="3276599"/>
            <a:ext cx="2892641" cy="289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67B62E-A9DF-C82A-5719-012A751435EC}"/>
              </a:ext>
            </a:extLst>
          </p:cNvPr>
          <p:cNvSpPr txBox="1"/>
          <p:nvPr/>
        </p:nvSpPr>
        <p:spPr>
          <a:xfrm>
            <a:off x="4833475" y="603682"/>
            <a:ext cx="25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Priorización de envíos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C2BDF6-6EB7-55A6-53A8-C61C1E6CCE4C}"/>
              </a:ext>
            </a:extLst>
          </p:cNvPr>
          <p:cNvSpPr txBox="1"/>
          <p:nvPr/>
        </p:nvSpPr>
        <p:spPr>
          <a:xfrm>
            <a:off x="1532824" y="1200264"/>
            <a:ext cx="1822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/>
              <a:t>Algoritmo</a:t>
            </a:r>
            <a:endParaRPr lang="es-AR" b="1" dirty="0"/>
          </a:p>
          <a:p>
            <a:pPr algn="ctr"/>
            <a:r>
              <a:rPr lang="es-AR" dirty="0"/>
              <a:t>Random Forest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CEA8B2-3DCF-BF3D-5D60-5E47D51E507A}"/>
              </a:ext>
            </a:extLst>
          </p:cNvPr>
          <p:cNvSpPr txBox="1"/>
          <p:nvPr/>
        </p:nvSpPr>
        <p:spPr>
          <a:xfrm>
            <a:off x="1610475" y="2455602"/>
            <a:ext cx="38170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Dataset de entrenamiento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Distancia estimada</a:t>
            </a:r>
            <a:endParaRPr lang="es-A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Tipo de envío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Ventana horaria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Tamaño/Volumen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Restricciones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/>
              <a:t>Saturación de rutas (Simulado)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FD7FC8-9926-01C3-72E4-2C9AF460E196}"/>
              </a:ext>
            </a:extLst>
          </p:cNvPr>
          <p:cNvSpPr txBox="1"/>
          <p:nvPr/>
        </p:nvSpPr>
        <p:spPr>
          <a:xfrm>
            <a:off x="1615476" y="4968911"/>
            <a:ext cx="27671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Prioridades del envío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Alta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Baja</a:t>
            </a:r>
            <a:endParaRPr lang="es-AR" dirty="0"/>
          </a:p>
        </p:txBody>
      </p:sp>
      <p:pic>
        <p:nvPicPr>
          <p:cNvPr id="12292" name="Picture 4" descr="Machine Learning - Iconos gratis de electrónica">
            <a:extLst>
              <a:ext uri="{FF2B5EF4-FFF2-40B4-BE49-F238E27FC236}">
                <a16:creationId xmlns:a16="http://schemas.microsoft.com/office/drawing/2014/main" id="{BC4427CD-0943-BFFD-40A1-FE5183EED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96" y="120026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90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57A2-8E83-FF04-DF8E-24677A62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4DA02EF-6265-3A93-5216-6B7F1CCDE001}"/>
              </a:ext>
            </a:extLst>
          </p:cNvPr>
          <p:cNvSpPr/>
          <p:nvPr/>
        </p:nvSpPr>
        <p:spPr>
          <a:xfrm>
            <a:off x="1538504" y="4856777"/>
            <a:ext cx="3450094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A2305EF-B0EE-686F-75FC-F2104694E63E}"/>
              </a:ext>
            </a:extLst>
          </p:cNvPr>
          <p:cNvSpPr/>
          <p:nvPr/>
        </p:nvSpPr>
        <p:spPr>
          <a:xfrm>
            <a:off x="1538504" y="3775229"/>
            <a:ext cx="5012911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EFF0F1D-3AB3-722A-1BA1-D7782095D22E}"/>
              </a:ext>
            </a:extLst>
          </p:cNvPr>
          <p:cNvSpPr/>
          <p:nvPr/>
        </p:nvSpPr>
        <p:spPr>
          <a:xfrm>
            <a:off x="1538504" y="2631831"/>
            <a:ext cx="8848370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B28DD17-8D10-4621-CAC6-16CC5983DE1D}"/>
              </a:ext>
            </a:extLst>
          </p:cNvPr>
          <p:cNvSpPr/>
          <p:nvPr/>
        </p:nvSpPr>
        <p:spPr>
          <a:xfrm>
            <a:off x="1538504" y="1466018"/>
            <a:ext cx="4557496" cy="753910"/>
          </a:xfrm>
          <a:prstGeom prst="roundRect">
            <a:avLst/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CEA517-D9CD-0EF2-48DF-4D39908D2E24}"/>
              </a:ext>
            </a:extLst>
          </p:cNvPr>
          <p:cNvSpPr txBox="1"/>
          <p:nvPr/>
        </p:nvSpPr>
        <p:spPr>
          <a:xfrm>
            <a:off x="4146588" y="0"/>
            <a:ext cx="38988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Próximos Pasos</a:t>
            </a:r>
            <a:endParaRPr lang="es-AR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59B1B2-0C7B-45FE-B097-8DBC995AB17C}"/>
              </a:ext>
            </a:extLst>
          </p:cNvPr>
          <p:cNvSpPr txBox="1"/>
          <p:nvPr/>
        </p:nvSpPr>
        <p:spPr>
          <a:xfrm>
            <a:off x="1586432" y="1658307"/>
            <a:ext cx="4509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Sprint Planning y evidencias de Daily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FAAAD1-5901-464C-76C9-05012BACCED7}"/>
              </a:ext>
            </a:extLst>
          </p:cNvPr>
          <p:cNvSpPr txBox="1"/>
          <p:nvPr/>
        </p:nvSpPr>
        <p:spPr>
          <a:xfrm>
            <a:off x="1586432" y="2824120"/>
            <a:ext cx="887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Sprint Review con demo (5 min) y Feedback del PO</a:t>
            </a:r>
            <a:r>
              <a:rPr lang="es-AR" dirty="0"/>
              <a:t>; Retrospective con acciones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C61431-2EAA-2CD8-00CC-F66FB055E624}"/>
              </a:ext>
            </a:extLst>
          </p:cNvPr>
          <p:cNvSpPr txBox="1"/>
          <p:nvPr/>
        </p:nvSpPr>
        <p:spPr>
          <a:xfrm>
            <a:off x="1586432" y="3951584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Métricas: Burndown y velocidad estimada</a:t>
            </a:r>
            <a:endParaRPr lang="es-A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5EC6DD-8651-683D-997E-183224A436BD}"/>
              </a:ext>
            </a:extLst>
          </p:cNvPr>
          <p:cNvSpPr txBox="1"/>
          <p:nvPr/>
        </p:nvSpPr>
        <p:spPr>
          <a:xfrm>
            <a:off x="1625177" y="5049066"/>
            <a:ext cx="3363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Entrega del “paquete base”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CDD511-EC4F-8995-FC80-FC41698B9037}"/>
              </a:ext>
            </a:extLst>
          </p:cNvPr>
          <p:cNvSpPr txBox="1"/>
          <p:nvPr/>
        </p:nvSpPr>
        <p:spPr>
          <a:xfrm>
            <a:off x="5473874" y="576759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Entrega 4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14500424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Personalizado 2">
      <a:dk1>
        <a:sysClr val="windowText" lastClr="000000"/>
      </a:dk1>
      <a:lt1>
        <a:sysClr val="window" lastClr="FFFFFF"/>
      </a:lt1>
      <a:dk2>
        <a:srgbClr val="005390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Vista</Template>
  <TotalTime>190</TotalTime>
  <Words>449</Words>
  <Application>Microsoft Office PowerPoint</Application>
  <PresentationFormat>Panorámica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Century Schoolbook</vt:lpstr>
      <vt:lpstr>Wingdings</vt:lpstr>
      <vt:lpstr>Wingdings 2</vt:lpstr>
      <vt:lpstr>Vista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Facundo Martinez</dc:creator>
  <cp:lastModifiedBy>Facundo Martinez</cp:lastModifiedBy>
  <cp:revision>3</cp:revision>
  <dcterms:created xsi:type="dcterms:W3CDTF">2026-03-30T19:28:26Z</dcterms:created>
  <dcterms:modified xsi:type="dcterms:W3CDTF">2026-03-31T20:16:59Z</dcterms:modified>
</cp:coreProperties>
</file>